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31.536000000000001</c:v>
                </c:pt>
                <c:pt idx="1">
                  <c:v>53.823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19-4699-BD85-07C963D60C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1.494</c:v>
                </c:pt>
                <c:pt idx="1">
                  <c:v>5.5229999999999997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19-4699-BD85-07C963D60C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0.86199999999999999</c:v>
                </c:pt>
                <c:pt idx="1">
                  <c:v>5.6440000000000001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19-4699-BD85-07C963D60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7260261738116071"/>
          <c:y val="0.14505869058034418"/>
          <c:w val="0.39923920968212306"/>
          <c:h val="7.2533902012248463E-2"/>
        </c:manualLayout>
      </c:layout>
      <c:overlay val="1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Assets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52.148000000000003</c:v>
                </c:pt>
                <c:pt idx="1">
                  <c:v>62.131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5E-4C06-AC57-64A2C9AB8E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Liabilities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28.417999999999999</c:v>
                </c:pt>
                <c:pt idx="1">
                  <c:v>30.547999999999998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5E-4C06-AC57-64A2C9AB8E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Equity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23.074999999999999</c:v>
                </c:pt>
                <c:pt idx="1">
                  <c:v>31.015000000000001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5E-4C06-AC57-64A2C9AB8E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0638929667689846"/>
          <c:y val="0.14505869058034418"/>
          <c:w val="0.36603496596823704"/>
          <c:h val="6.3274642752989205E-2"/>
        </c:manualLayout>
      </c:layout>
      <c:overlay val="1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Cash Flow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5.9429999999999996</c:v>
                </c:pt>
                <c:pt idx="1">
                  <c:v>11.446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8F-47A5-AFEF-4823087FF2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Capital Expenditure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3.242</c:v>
                </c:pt>
                <c:pt idx="1">
                  <c:v>8.0139999999999993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8F-47A5-AFEF-4823087FF2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Free Cash Flow ($M)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2.7010000000000001</c:v>
                </c:pt>
                <c:pt idx="1">
                  <c:v>3.4319999999999999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8F-47A5-AFEF-4823087FF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0307378244386118"/>
          <c:y val="0.15431794983960342"/>
          <c:w val="0.64246336395450576"/>
          <c:h val="4.9385753864100324E-2"/>
        </c:manualLayout>
      </c:layout>
      <c:overlay val="1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9728" cy="525780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4377673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latin typeface="+mj-lt"/>
              </a:rPr>
              <a:t>FINANCIAL STATEMENT</a:t>
            </a:r>
            <a:br>
              <a:rPr dirty="0">
                <a:latin typeface="+mj-lt"/>
              </a:rPr>
            </a:br>
            <a:r>
              <a:rPr dirty="0">
                <a:latin typeface="+mj-lt"/>
              </a:rPr>
              <a:t>ANALYSIS</a:t>
            </a:r>
          </a:p>
          <a:p>
            <a:pPr>
              <a:spcBef>
                <a:spcPts val="1200"/>
              </a:spcBef>
              <a:defRPr sz="2000">
                <a:solidFill>
                  <a:srgbClr val="C3D2DC"/>
                </a:solidFill>
                <a:latin typeface="Aptos"/>
              </a:defRPr>
            </a:pPr>
            <a:r>
              <a:rPr dirty="0">
                <a:latin typeface="+mj-lt"/>
              </a:rPr>
              <a:t>Green Solutions Manufacturing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29000"/>
            <a:ext cx="454419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+mj-lt"/>
              </a:rPr>
              <a:t>Integrated review of Profit &amp; Loss, Balance Sheet,</a:t>
            </a:r>
            <a:br>
              <a:rPr dirty="0">
                <a:latin typeface="+mj-lt"/>
              </a:rPr>
            </a:br>
            <a:r>
              <a:rPr dirty="0">
                <a:latin typeface="+mj-lt"/>
              </a:rPr>
              <a:t>Cash Flow and key financial ratios</a:t>
            </a:r>
          </a:p>
          <a:p>
            <a:pPr>
              <a:spcBef>
                <a:spcPts val="1800"/>
              </a:spcBef>
              <a:defRPr sz="1100">
                <a:solidFill>
                  <a:srgbClr val="C3D2DC"/>
                </a:solidFill>
                <a:latin typeface="Aptos"/>
              </a:defRPr>
            </a:pPr>
            <a:r>
              <a:rPr dirty="0">
                <a:latin typeface="+mj-lt"/>
              </a:rPr>
              <a:t>FY2024 vs FY2025 Actuals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071" y="6411950"/>
            <a:ext cx="387638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lang="en-US" dirty="0"/>
              <a:t>Green Solutions Manufacturing Ltd. | Financial Statement Analysis | FY2024–FY2025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B2951-3AB3-DDF3-9D00-59B324148DE1}"/>
              </a:ext>
            </a:extLst>
          </p:cNvPr>
          <p:cNvSpPr txBox="1"/>
          <p:nvPr/>
        </p:nvSpPr>
        <p:spPr>
          <a:xfrm>
            <a:off x="960120" y="4450759"/>
            <a:ext cx="173316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lang="en-US" sz="1100" b="1" dirty="0">
                <a:latin typeface="+mj-lt"/>
              </a:rPr>
              <a:t>Presented By: Pritam Saha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00847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Executive Financial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303640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FY2025 performance compared with FY2024 actuals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4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Revenue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$53.8M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+70.7%</a:t>
            </a:r>
            <a:r>
              <a:rPr lang="en-IN" dirty="0">
                <a:latin typeface="+mj-lt"/>
              </a:rPr>
              <a:t>YoY</a:t>
            </a:r>
            <a:endParaRPr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481328"/>
            <a:ext cx="54864" cy="114300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37560" y="1481328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EBITDA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$5.5M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+269.7%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81328"/>
            <a:ext cx="54864" cy="1143000"/>
          </a:xfrm>
          <a:prstGeom prst="rect">
            <a:avLst/>
          </a:prstGeom>
          <a:solidFill>
            <a:srgbClr val="1F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0" y="1481328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PAT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$5.6M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/>
              <a:t>+554.8% 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81328"/>
            <a:ext cx="54864" cy="1143000"/>
          </a:xfrm>
          <a:prstGeom prst="rect">
            <a:avLst/>
          </a:prstGeom>
          <a:solidFill>
            <a:srgbClr val="1F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32520" y="1481328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Operating Cash Flow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$11.4M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+92.6%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481328"/>
            <a:ext cx="54864" cy="114300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3492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defRPr sz="13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What the model shows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Top-line growth was strong: revenue rose from $31.5M to $53.8M.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Profitability expanded materially: EBITDA margin improved from 4.7% to 10.3%.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Operating cash generation strengthened to $11.4M, supporting higher investment activity.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Equity increased from $23.1M to $31.0M, while total assets expanded.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80360"/>
            <a:ext cx="50749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defRPr sz="13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Key watchpoints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Current ratio declined from 1.88x to 1.38x, indicating tighter short-term liquidity.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Inventory increased by 40.4%, requiring continued working-capital monitoring.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Capital expenditure rose to $8.0M, materially above FY2024.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Year-end cash reduced to $17.6M after investment and financing outflows.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510528"/>
            <a:ext cx="370005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Green Solutions Manufacturing Ltd. | Financial Statement Analysis | FY2024–FY2025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4760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Profit &amp; Loss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465383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Revenue growth translated into significantly higher operating and net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4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02222"/>
              </p:ext>
            </p:extLst>
          </p:nvPr>
        </p:nvGraphicFramePr>
        <p:xfrm>
          <a:off x="640080" y="146304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43484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Gross Margin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21.0%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→ 25.3%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434840"/>
            <a:ext cx="54864" cy="10515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87168" y="443484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EBITDA Margin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4.7%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→ 10.3%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4434840"/>
            <a:ext cx="54864" cy="1051560"/>
          </a:xfrm>
          <a:prstGeom prst="rect">
            <a:avLst/>
          </a:prstGeom>
          <a:solidFill>
            <a:srgbClr val="1F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88536" y="443484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Operating Margin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6.3%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→ 12.1%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4434840"/>
            <a:ext cx="54864" cy="1051560"/>
          </a:xfrm>
          <a:prstGeom prst="rect">
            <a:avLst/>
          </a:prstGeom>
          <a:solidFill>
            <a:srgbClr val="1F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6520" y="1463040"/>
            <a:ext cx="4800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defRPr sz="13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Analytical interpretation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Revenue increased 70.7% YoY, from $31.5M to $53.8M.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Gross profit more than doubled to $13.6M, reflecting improved gross economics.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EBITDA increased from $1.5M to $5.5M; margin expanded by 5.5 percentage points.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Net interest expense improved from $-0.7M to $-0.3M, supporting bottom-line growth.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PAT rose to $5.6M from $0.9M.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510528"/>
            <a:ext cx="370005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Green Solutions Manufacturing Ltd. | Financial Statement Analysis | FY2024–FY2025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430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Balance Sheet &amp; Working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495360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Asset growth was supported by higher equity, while working-capital intensity increased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4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62761"/>
              </p:ext>
            </p:extLst>
          </p:nvPr>
        </p:nvGraphicFramePr>
        <p:xfrm>
          <a:off x="640080" y="146304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43484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/>
              <a:t>Cash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$17.6M</a:t>
            </a:r>
          </a:p>
          <a:p>
            <a:pPr>
              <a:defRPr sz="950" b="1">
                <a:solidFill>
                  <a:srgbClr val="AB3D3D"/>
                </a:solidFill>
                <a:latin typeface="Aptos"/>
              </a:defRPr>
            </a:pPr>
            <a:r>
              <a:rPr dirty="0">
                <a:latin typeface="+mj-lt"/>
              </a:rPr>
              <a:t>-9.3% YoY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434840"/>
            <a:ext cx="54864" cy="1051560"/>
          </a:xfrm>
          <a:prstGeom prst="rect">
            <a:avLst/>
          </a:prstGeom>
          <a:solidFill>
            <a:srgbClr val="C1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50592" y="443484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Inventory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$5.8M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+40.4%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0592" y="4434840"/>
            <a:ext cx="54864" cy="1051560"/>
          </a:xfrm>
          <a:prstGeom prst="rect">
            <a:avLst/>
          </a:prstGeom>
          <a:solidFill>
            <a:srgbClr val="C1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15384" y="443484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Current Ratio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1.38x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FY24 1.88x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4434840"/>
            <a:ext cx="54864" cy="1051560"/>
          </a:xfrm>
          <a:prstGeom prst="rect">
            <a:avLst/>
          </a:prstGeom>
          <a:solidFill>
            <a:srgbClr val="C1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49377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defRPr sz="13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Key balance-sheet observations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Total assets grew 19.1% to $62.1M, led by higher PP&amp;E.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Total liabilities increased 7.5%, while equity increased 34.4%.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Inventory rose 40.4%, consistent with higher business activity but increasing working-capital needs.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Net working capital change recorded in the model was $5.7M, requiring ongoing cash-conversion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510528"/>
            <a:ext cx="370005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Green Solutions Manufacturing Ltd. | Financial Statement Analysis | FY2024–FY2025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6826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1"/>
                </a:solidFill>
                <a:latin typeface="Aptos Display"/>
              </a:defRPr>
            </a:pPr>
            <a:r>
              <a:rPr lang="en-IN" dirty="0">
                <a:latin typeface="+mj-lt"/>
              </a:rPr>
              <a:t>Cash Flow Analysis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476284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Operating cash generation improved substantially despite higher capital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4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37186"/>
              </p:ext>
            </p:extLst>
          </p:nvPr>
        </p:nvGraphicFramePr>
        <p:xfrm>
          <a:off x="640080" y="146304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43484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Operating CF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$11.4M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+92.6% YoY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434840"/>
            <a:ext cx="54864" cy="1051560"/>
          </a:xfrm>
          <a:prstGeom prst="rect">
            <a:avLst/>
          </a:prstGeom>
          <a:solidFill>
            <a:srgbClr val="1F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87168" y="443484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 err="1">
                <a:latin typeface="+mj-lt"/>
              </a:rPr>
              <a:t>CapEx</a:t>
            </a:r>
            <a:endParaRPr dirty="0">
              <a:latin typeface="+mj-lt"/>
            </a:endParaRP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$8.0M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+147.2%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4434840"/>
            <a:ext cx="54864" cy="1051560"/>
          </a:xfrm>
          <a:prstGeom prst="rect">
            <a:avLst/>
          </a:prstGeom>
          <a:solidFill>
            <a:srgbClr val="C17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88536" y="4434840"/>
            <a:ext cx="1645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>
              <a:defRPr sz="9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Free Cash Flow</a:t>
            </a:r>
          </a:p>
          <a:p>
            <a:pPr>
              <a:defRPr sz="22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$3.4M</a:t>
            </a:r>
          </a:p>
          <a:p>
            <a:pPr>
              <a:defRPr sz="950" b="1">
                <a:solidFill>
                  <a:srgbClr val="1F7A53"/>
                </a:solidFill>
                <a:latin typeface="Aptos"/>
              </a:defRPr>
            </a:pPr>
            <a:r>
              <a:rPr dirty="0">
                <a:latin typeface="+mj-lt"/>
              </a:rPr>
              <a:t>+27.1%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4434840"/>
            <a:ext cx="54864" cy="10515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6520" y="1463040"/>
            <a:ext cx="4800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defRPr sz="13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Cash-flow drivers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Operating cash flow increased to $11.4M from $5.9M.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Inventory was a major use of operating cash in FY2025, with a $1.7M cash outflow.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 err="1">
                <a:latin typeface="+mj-lt"/>
              </a:rPr>
              <a:t>CapEx</a:t>
            </a:r>
            <a:r>
              <a:rPr dirty="0">
                <a:latin typeface="+mj-lt"/>
              </a:rPr>
              <a:t> increased to $8.0M, primarily reflecting higher property and equipment purchases.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Financing cash flow was negative in FY2025 as debt repayments exceeded new debt proceeds.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Ending cash remained substantial at $17.6M.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510528"/>
            <a:ext cx="370005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Green Solutions Manufacturing Ltd. | Financial Statement Analysis | FY2024–FY2025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36499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Ratio Dashboard &amp; Overall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687880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Key indicators point to stronger profitability and debt-servicing capacity, with liquidity and investment intensity to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4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6400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FY2024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EBITDA Margin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4.7%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10.3%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+5.5 pp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Operating Margin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6.3%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12.1%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+5.8 pp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EBITDA / Net Interest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2.08x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17.53x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+15.45x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Current Ratio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1.88x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1.38x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-0.50x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Leverage Metric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7.82x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1.24x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-6.59x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Net Leverage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-5.15x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-1.94x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dirty="0"/>
                        <a:t>3.21x</a:t>
                      </a:r>
                    </a:p>
                  </a:txBody>
                  <a:tcPr marL="73152" marR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417320"/>
            <a:ext cx="39319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defRPr sz="1300" b="1">
                <a:solidFill>
                  <a:srgbClr val="121F31"/>
                </a:solidFill>
                <a:latin typeface="Aptos Display"/>
              </a:defRPr>
            </a:pPr>
            <a:r>
              <a:rPr dirty="0">
                <a:latin typeface="+mj-lt"/>
              </a:rPr>
              <a:t>Key analytical takeaways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Profitability improved materially, with EBITDA and operating margins expanding.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Interest coverage strengthened sharply, indicating much stronger operating capacity relative to net interest expense.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The leverage metric declined substantially in the model, reflecting improved earnings relative to liabilities.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Liquidity weakened modestly as the current ratio declined and cash reduced.</a:t>
            </a:r>
          </a:p>
          <a:p>
            <a:pPr>
              <a:spcBef>
                <a:spcPts val="700"/>
              </a:spcBef>
              <a:defRPr sz="1050">
                <a:solidFill>
                  <a:srgbClr val="1F2937"/>
                </a:solidFill>
                <a:latin typeface="Aptos"/>
              </a:defRPr>
            </a:pPr>
            <a:r>
              <a:rPr dirty="0">
                <a:latin typeface="+mj-lt"/>
              </a:rPr>
              <a:t>Higher </a:t>
            </a:r>
            <a:r>
              <a:rPr dirty="0" err="1">
                <a:latin typeface="+mj-lt"/>
              </a:rPr>
              <a:t>CapEx</a:t>
            </a:r>
            <a:r>
              <a:rPr dirty="0">
                <a:latin typeface="+mj-lt"/>
              </a:rPr>
              <a:t> and inventory investment should remain central to future cash-flow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30368"/>
            <a:ext cx="10607040" cy="685800"/>
          </a:xfrm>
          <a:prstGeom prst="round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+mj-lt"/>
              </a:rPr>
              <a:t>Portfolio focus: integrated financial statement analysis, ratio interpretation, working-capital review and cash-flow assessment.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510528"/>
            <a:ext cx="370005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rPr dirty="0">
                <a:latin typeface="+mj-lt"/>
              </a:rPr>
              <a:t>Green Solutions Manufacturing Ltd. | Financial Statement Analysis | FY2024–FY2025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732</Words>
  <Application>Microsoft Office PowerPoint</Application>
  <PresentationFormat>Widescreen</PresentationFormat>
  <Paragraphs>130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Statement Analysis – Green Solutions Manufacturing Ltd.</dc:title>
  <dc:subject>FY2024–FY2025 financial performance, balance sheet, cash flow and ratio analysis</dc:subject>
  <dc:creator>Financial Analysis Portfolio</dc:creator>
  <cp:keywords>Financial Statement Analysis, P&amp;L, Balance Sheet, Cash Flow, Financial Ratios, EBITDA, Working Capital</cp:keywords>
  <dc:description>generated using python-pptx</dc:description>
  <cp:lastModifiedBy>Pritam Saha</cp:lastModifiedBy>
  <cp:revision>3</cp:revision>
  <dcterms:created xsi:type="dcterms:W3CDTF">2013-01-27T09:14:16Z</dcterms:created>
  <dcterms:modified xsi:type="dcterms:W3CDTF">2026-10-01T13:18:16Z</dcterms:modified>
  <cp:category/>
</cp:coreProperties>
</file>